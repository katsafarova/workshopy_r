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88" r:id="rId2"/>
    <p:sldId id="257" r:id="rId3"/>
    <p:sldId id="291" r:id="rId4"/>
    <p:sldId id="282" r:id="rId5"/>
    <p:sldId id="283" r:id="rId6"/>
    <p:sldId id="284" r:id="rId7"/>
    <p:sldId id="285" r:id="rId8"/>
    <p:sldId id="286" r:id="rId9"/>
    <p:sldId id="267" r:id="rId10"/>
    <p:sldId id="268" r:id="rId11"/>
    <p:sldId id="275" r:id="rId12"/>
    <p:sldId id="264" r:id="rId13"/>
    <p:sldId id="287" r:id="rId14"/>
    <p:sldId id="271" r:id="rId15"/>
    <p:sldId id="272" r:id="rId16"/>
    <p:sldId id="276" r:id="rId17"/>
    <p:sldId id="277" r:id="rId18"/>
    <p:sldId id="290" r:id="rId19"/>
    <p:sldId id="289" r:id="rId20"/>
    <p:sldId id="279" r:id="rId21"/>
    <p:sldId id="280" r:id="rId22"/>
    <p:sldId id="265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8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910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7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13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9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6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8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3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12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15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8684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3844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454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5" r:id="rId6"/>
    <p:sldLayoutId id="2147483720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etrbouchal.xyz/analytici/one-pager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ociology-fa-cu.github.io/uvod-do-r-kniha/organizace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WXcw6NHM6E&amp;list=PLBnFxG6owe1HRvUL6A5QNF_8ujP8NdLMc&amp;index=1" TargetMode="External"/><Relationship Id="rId2" Type="http://schemas.openxmlformats.org/officeDocument/2006/relationships/hyperlink" Target="https://www.youtube.com/watch?v=oCgt8DgqYUg&amp;list=PLrNwFHtyQY5_9HAbPazOuVw-WHtzWLyRw&amp;index=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hyperlink" Target="https://www.youtube.com/playlist?list=PLBnFxG6owe1HRvUL6A5QNF_8ujP8NdLMc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youtube.com/watch?v=oCgt8DgqYUg&amp;list=PLrNwFHtyQY5_9HAbPazOuVw-WHtzWLyRw&amp;index=3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youtube.com/watch?v=oCgt8DgqYUg&amp;list=PLrNwFHtyQY5_9HAbPazOuVw-WHtzWLyRw&amp;index=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camp.com/category/r?showAll=true" TargetMode="External"/><Relationship Id="rId13" Type="http://schemas.openxmlformats.org/officeDocument/2006/relationships/hyperlink" Target="https://www.youtube.com/watch?v=oCgt8DgqYUg&amp;list=PLrNwFHtyQY5_9HAbPazOuVw-WHtzWLyRw&amp;index=3" TargetMode="External"/><Relationship Id="rId3" Type="http://schemas.openxmlformats.org/officeDocument/2006/relationships/hyperlink" Target="https://garrettgman.github.io/tidying/" TargetMode="External"/><Relationship Id="rId7" Type="http://schemas.openxmlformats.org/officeDocument/2006/relationships/hyperlink" Target="https://scholaempirica.github.io/reschola/articles/tips.html" TargetMode="External"/><Relationship Id="rId12" Type="http://schemas.openxmlformats.org/officeDocument/2006/relationships/hyperlink" Target="https://www.youtube.com/playlist?list=PLBnFxG6owe1HRvUL6A5QNF_8ujP8NdLMc" TargetMode="External"/><Relationship Id="rId2" Type="http://schemas.openxmlformats.org/officeDocument/2006/relationships/hyperlink" Target="https://r4ds.had.co.nz/tidy-data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tanovia.com/en/blog/top-r-color-palettes-to-know-for-great-data-visualization/" TargetMode="External"/><Relationship Id="rId11" Type="http://schemas.openxmlformats.org/officeDocument/2006/relationships/hyperlink" Target="https://www.youtube.com/watch?v=IWXcw6NHM6E&amp;list=PLBnFxG6owe1HRvUL6A5QNF_8ujP8NdLMc&amp;index=1" TargetMode="External"/><Relationship Id="rId5" Type="http://schemas.openxmlformats.org/officeDocument/2006/relationships/hyperlink" Target="https://dreamrs.shinyapps.io/esquisse/" TargetMode="External"/><Relationship Id="rId10" Type="http://schemas.openxmlformats.org/officeDocument/2006/relationships/hyperlink" Target="https://sociology-fa-cu.github.io/uvod-do-r-kniha/" TargetMode="External"/><Relationship Id="rId4" Type="http://schemas.openxmlformats.org/officeDocument/2006/relationships/hyperlink" Target="https://r-graph-gallery.com/" TargetMode="External"/><Relationship Id="rId9" Type="http://schemas.openxmlformats.org/officeDocument/2006/relationships/hyperlink" Target="https://petrbouchal.xyz/eval202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85176-343A-DEED-F0CB-BF66B1CB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E55813A2-9698-038C-EF27-7B7DC453D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41" y="2370906"/>
            <a:ext cx="10357666" cy="1438450"/>
          </a:xfrm>
        </p:spPr>
        <p:txBody>
          <a:bodyPr/>
          <a:lstStyle/>
          <a:p>
            <a:r>
              <a:rPr lang="cs-CZ" dirty="0"/>
              <a:t>Úvod do R a grafů s </a:t>
            </a:r>
            <a:r>
              <a:rPr lang="cs-CZ" dirty="0" err="1"/>
              <a:t>ggplotem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1443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1EF80-F9E9-14FD-4067-7153F183B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Proč 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A5D431-6CAA-D718-0801-F098A1C00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473576"/>
          </a:xfrm>
        </p:spPr>
        <p:txBody>
          <a:bodyPr>
            <a:normAutofit lnSpcReduction="10000"/>
          </a:bodyPr>
          <a:lstStyle/>
          <a:p>
            <a:r>
              <a:rPr lang="cs-CZ" dirty="0"/>
              <a:t>Skvělý nástroj na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Zpracování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Analýzu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Vizualizaci dat</a:t>
            </a:r>
          </a:p>
          <a:p>
            <a:pPr marL="228600" lvl="1">
              <a:buFont typeface="Arial" panose="020B0604020202020204" pitchFamily="34" charset="0"/>
              <a:buChar char="•"/>
            </a:pPr>
            <a:r>
              <a:rPr lang="cs-CZ" dirty="0"/>
              <a:t>Zdarma</a:t>
            </a:r>
          </a:p>
          <a:p>
            <a:pPr marL="228600" lvl="1">
              <a:buFont typeface="Arial" panose="020B0604020202020204" pitchFamily="34" charset="0"/>
              <a:buChar char="•"/>
            </a:pPr>
            <a:r>
              <a:rPr lang="cs-CZ" dirty="0"/>
              <a:t>Rozvíjející se, s obrovskou komunitou</a:t>
            </a:r>
          </a:p>
          <a:p>
            <a:pPr marL="228600" lvl="1">
              <a:buFont typeface="Arial" panose="020B0604020202020204" pitchFamily="34" charset="0"/>
              <a:buChar char="•"/>
            </a:pPr>
            <a:r>
              <a:rPr lang="cs-CZ" dirty="0"/>
              <a:t>Analýzy jsou </a:t>
            </a:r>
            <a:r>
              <a:rPr lang="cs-CZ" b="1" dirty="0"/>
              <a:t>reprodukovatelné</a:t>
            </a:r>
            <a:r>
              <a:rPr lang="cs-CZ" dirty="0"/>
              <a:t> </a:t>
            </a:r>
          </a:p>
          <a:p>
            <a:pPr marL="502920" lvl="2"/>
            <a:r>
              <a:rPr lang="cs-CZ" dirty="0"/>
              <a:t>Postup je dokumentován pro kolegy i pro své budoucí já </a:t>
            </a:r>
          </a:p>
          <a:p>
            <a:pPr marL="228600" lvl="2"/>
            <a:r>
              <a:rPr lang="cs-CZ" b="1" dirty="0"/>
              <a:t>Možnost tvořit vlastní funkce a balíčky s těmito funkcemi pro své činnosti na míru </a:t>
            </a:r>
          </a:p>
          <a:p>
            <a:pPr marL="265113" lvl="1">
              <a:buFont typeface="Arial" panose="020B0604020202020204" pitchFamily="34" charset="0"/>
              <a:buChar char="•"/>
            </a:pPr>
            <a:r>
              <a:rPr lang="cs-CZ" dirty="0"/>
              <a:t>Umožňuje analýzy a reporty automatizovat, proto je skvělé na analytické postupy, které se opakují (alespoň rámcově)</a:t>
            </a:r>
          </a:p>
          <a:p>
            <a:pPr marL="265113" lvl="1">
              <a:buFont typeface="Arial" panose="020B0604020202020204" pitchFamily="34" charset="0"/>
              <a:buChar char="•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91247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990BD-9958-1E1B-0379-15F55295E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8764A995-3FDE-CD60-1182-3F4AE831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41" y="2370906"/>
            <a:ext cx="10357666" cy="1438450"/>
          </a:xfrm>
        </p:spPr>
        <p:txBody>
          <a:bodyPr/>
          <a:lstStyle/>
          <a:p>
            <a:r>
              <a:rPr lang="cs-CZ" dirty="0"/>
              <a:t>Ukázky grafů v </a:t>
            </a:r>
            <a:r>
              <a:rPr lang="cs-CZ" dirty="0" err="1"/>
              <a:t>Rku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97660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78EDDD3-C548-48EF-B3CA-B290B1719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Obrázek 14" descr="Obsah obrázku text, Vykreslený graf, diagram&#10;&#10;Popis byl vytvořen automaticky">
            <a:extLst>
              <a:ext uri="{FF2B5EF4-FFF2-40B4-BE49-F238E27FC236}">
                <a16:creationId xmlns:a16="http://schemas.microsoft.com/office/drawing/2014/main" id="{D9F11B5D-318E-9ACE-B3C4-B9A91BC41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025" y="857249"/>
            <a:ext cx="5143500" cy="5143500"/>
          </a:xfrm>
          <a:prstGeom prst="rect">
            <a:avLst/>
          </a:prstGeom>
        </p:spPr>
      </p:pic>
      <p:pic>
        <p:nvPicPr>
          <p:cNvPr id="17" name="Obrázek 16" descr="Obsah obrázku text, snímek obrazovky, řada/pruh, diagram&#10;&#10;Popis byl vytvořen automaticky">
            <a:extLst>
              <a:ext uri="{FF2B5EF4-FFF2-40B4-BE49-F238E27FC236}">
                <a16:creationId xmlns:a16="http://schemas.microsoft.com/office/drawing/2014/main" id="{17772F0B-9D54-AA52-3044-86643D5CA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4412"/>
            <a:ext cx="6438899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7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snímek obrazovky, diagram, kruh&#10;&#10;Popis byl vytvořen automaticky">
            <a:extLst>
              <a:ext uri="{FF2B5EF4-FFF2-40B4-BE49-F238E27FC236}">
                <a16:creationId xmlns:a16="http://schemas.microsoft.com/office/drawing/2014/main" id="{96CA6604-0CFF-83CC-053B-8E2C78DEB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367" y="-38100"/>
            <a:ext cx="4849683" cy="6858000"/>
          </a:xfrm>
          <a:prstGeom prst="rect">
            <a:avLst/>
          </a:prstGeom>
        </p:spPr>
      </p:pic>
      <p:pic>
        <p:nvPicPr>
          <p:cNvPr id="5" name="Obrázek 4" descr="Obsah obrázku text, diagram, snímek obrazovky&#10;&#10;Popis byl vytvořen automaticky">
            <a:extLst>
              <a:ext uri="{FF2B5EF4-FFF2-40B4-BE49-F238E27FC236}">
                <a16:creationId xmlns:a16="http://schemas.microsoft.com/office/drawing/2014/main" id="{14205D3B-F91B-376C-205F-FE27FD9AB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50" y="6667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82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 descr="Obsah obrázku diagram, text, Plán, Technický výkres&#10;&#10;Popis byl vytvořen automaticky">
            <a:extLst>
              <a:ext uri="{FF2B5EF4-FFF2-40B4-BE49-F238E27FC236}">
                <a16:creationId xmlns:a16="http://schemas.microsoft.com/office/drawing/2014/main" id="{885461B1-ADD7-AB1D-12BD-119780395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68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snímek obrazovky, řada/pruh, číslo&#10;&#10;Popis byl vytvořen automaticky">
            <a:extLst>
              <a:ext uri="{FF2B5EF4-FFF2-40B4-BE49-F238E27FC236}">
                <a16:creationId xmlns:a16="http://schemas.microsoft.com/office/drawing/2014/main" id="{78D35761-6802-7F17-584B-CCD9CDE1A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729517" cy="6858000"/>
          </a:xfrm>
          <a:prstGeom prst="rect">
            <a:avLst/>
          </a:prstGeom>
        </p:spPr>
      </p:pic>
      <p:pic>
        <p:nvPicPr>
          <p:cNvPr id="9" name="Obrázek 8" descr="Obsah obrázku text, snímek obrazovky, Barevnost, nachový&#10;&#10;Popis byl vytvořen automaticky">
            <a:extLst>
              <a:ext uri="{FF2B5EF4-FFF2-40B4-BE49-F238E27FC236}">
                <a16:creationId xmlns:a16="http://schemas.microsoft.com/office/drawing/2014/main" id="{496EE11E-260C-ACF4-26EC-3F011CBB1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275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78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 descr="Obsah obrázku text, grafický design, plakát, Grafika&#10;&#10;Popis byl vytvořen automaticky">
            <a:extLst>
              <a:ext uri="{FF2B5EF4-FFF2-40B4-BE49-F238E27FC236}">
                <a16:creationId xmlns:a16="http://schemas.microsoft.com/office/drawing/2014/main" id="{4452F1B2-FC8A-3F0E-F296-4C59C9DB6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95250"/>
            <a:ext cx="4572000" cy="4572000"/>
          </a:xfrm>
          <a:prstGeom prst="rect">
            <a:avLst/>
          </a:prstGeom>
        </p:spPr>
      </p:pic>
      <p:pic>
        <p:nvPicPr>
          <p:cNvPr id="13" name="Obrázek 12" descr="Obsah obrázku text, kruh, snímek obrazovky, diagram&#10;&#10;Popis byl vytvořen automaticky">
            <a:extLst>
              <a:ext uri="{FF2B5EF4-FFF2-40B4-BE49-F238E27FC236}">
                <a16:creationId xmlns:a16="http://schemas.microsoft.com/office/drawing/2014/main" id="{72F76A86-AF9A-4D2D-4772-B96B6F6EF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7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1EF80-F9E9-14FD-4067-7153F183B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482" y="2137777"/>
            <a:ext cx="10357666" cy="1438450"/>
          </a:xfrm>
        </p:spPr>
        <p:txBody>
          <a:bodyPr/>
          <a:lstStyle/>
          <a:p>
            <a:pPr algn="ctr"/>
            <a:r>
              <a:rPr lang="cs-CZ" b="1" dirty="0"/>
              <a:t>Minimální standard pro práci s daty</a:t>
            </a:r>
          </a:p>
        </p:txBody>
      </p:sp>
    </p:spTree>
    <p:extLst>
      <p:ext uri="{BB962C8B-B14F-4D97-AF65-F5344CB8AC3E}">
        <p14:creationId xmlns:p14="http://schemas.microsoft.com/office/powerpoint/2010/main" val="3582964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7D6997-535A-A3A6-80D6-09E4BE6D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Výstižně a chytře pojmenovávat soubory i proměnné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4CE869F6-7FAF-7C38-99BE-1D83D258B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1" y="2205789"/>
            <a:ext cx="10357666" cy="4090736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Nepoužívat diakritiku, mezery</a:t>
            </a:r>
          </a:p>
          <a:p>
            <a:r>
              <a:rPr lang="cs-CZ" dirty="0"/>
              <a:t>Pro data je doporučovaný formát </a:t>
            </a:r>
            <a:r>
              <a:rPr lang="cs-CZ" b="1" dirty="0"/>
              <a:t>YYYY-MM-DD</a:t>
            </a:r>
          </a:p>
          <a:p>
            <a:r>
              <a:rPr lang="cs-CZ" dirty="0"/>
              <a:t>Názvy mají být dobře čitelné pro lidi, počítače a logicky seřazené </a:t>
            </a:r>
          </a:p>
          <a:p>
            <a:r>
              <a:rPr lang="cs-CZ" dirty="0"/>
              <a:t>Buďme konzistentní v pojmenovávání napříč kódy a soubory</a:t>
            </a:r>
          </a:p>
          <a:p>
            <a:r>
              <a:rPr lang="cs-CZ" dirty="0"/>
              <a:t>U objektů a proměnných být stručný </a:t>
            </a:r>
          </a:p>
          <a:p>
            <a:r>
              <a:rPr lang="cs-CZ" dirty="0"/>
              <a:t>Úzce související proměnné – např baterie otázek – by měly mít společnou a unikátní část názvu např. q01_nhs_xx, q02_nhs_xx</a:t>
            </a:r>
          </a:p>
          <a:p>
            <a:r>
              <a:rPr lang="cs-CZ" dirty="0"/>
              <a:t>Více v materiálu Petra Bouchala zde </a:t>
            </a:r>
            <a:r>
              <a:rPr lang="cs-CZ" dirty="0">
                <a:hlinkClick r:id="rId2"/>
              </a:rPr>
              <a:t>Analytici 2022 - Práce s (kvantitativními) daty (</a:t>
            </a:r>
            <a:r>
              <a:rPr lang="cs-CZ" dirty="0" err="1">
                <a:hlinkClick r:id="rId2"/>
              </a:rPr>
              <a:t>petrbouchal.xyz</a:t>
            </a:r>
            <a:r>
              <a:rPr lang="cs-CZ" dirty="0">
                <a:hlinkClick r:id="rId2"/>
              </a:rPr>
              <a:t>)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40834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7D6997-535A-A3A6-80D6-09E4BE6D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Hlavní kódovací styly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4CE869F6-7FAF-7C38-99BE-1D83D258B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1" y="2253916"/>
            <a:ext cx="10357666" cy="409073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Kódovací styly (</a:t>
            </a:r>
            <a:r>
              <a:rPr lang="cs-CZ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coding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cs-CZ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styles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představují seznam pravidel pro psaní dobře čitelného kódu. Silně doporučujeme dodržovat jeden kódovací styl. Dodržovaní vámi vybraného stylu pomůže váš kód udržovat dobře čitelný a přehledný, a to nejen pro vaše budoucí já, ale i pro vaše spolupracovníky.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Jednou z typických věcí, kterou kódovací styly upravují, je pojmenovávání proměnných. Způsobů pojmenovávání proměnných existuje více, mezi ty nejpopulárnější patří následující tři: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cs-CZ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snake_caseje</a:t>
            </a:r>
            <a:r>
              <a:rPr lang="cs-CZ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styl, který používá malá písmena a slova odděluje podtržítkem. Například proměnná obsahující měsíční příjem respondenta by ve </a:t>
            </a:r>
            <a:r>
              <a:rPr lang="cs-CZ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snake_case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stylu vypadalo jako </a:t>
            </a:r>
            <a:r>
              <a:rPr lang="cs-CZ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monthly_income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cs-CZ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camelCase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styl pro oddělení slov využívá velkých písmen, zbylá písmena jsou malá. Průměrný měsíční příjem by v tomto stylu byl </a:t>
            </a:r>
            <a:r>
              <a:rPr lang="cs-CZ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cs-CZ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kebab-case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je styl </a:t>
            </a:r>
            <a:r>
              <a:rPr lang="cs-CZ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podobý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cs-CZ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snake_case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místo podtržítek ale využívá pomlček. Naše proměnná příjmu by v vypadalo jako </a:t>
            </a:r>
            <a:r>
              <a:rPr lang="cs-CZ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monthly-income</a:t>
            </a:r>
            <a:r>
              <a:rPr lang="cs-CZ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cs-CZ" sz="1600" u="sng" dirty="0">
                <a:hlinkClick r:id="rId2"/>
              </a:rPr>
              <a:t>Zdroj: </a:t>
            </a:r>
            <a:r>
              <a:rPr lang="cs-CZ" sz="1600" dirty="0">
                <a:hlinkClick r:id="rId2"/>
              </a:rPr>
              <a:t>Úvod do analýzy dat v R - 3  Jak si organizovat práci (sociology-fa-cu.github.io)</a:t>
            </a:r>
            <a:endParaRPr lang="cs-CZ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86391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7D6997-535A-A3A6-80D6-09E4BE6D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 jakém formátu chceme data</a:t>
            </a:r>
          </a:p>
        </p:txBody>
      </p:sp>
      <p:pic>
        <p:nvPicPr>
          <p:cNvPr id="9" name="Obrázek 8" descr="Obsah obrázku text, snímek obrazovky, Písmo, řada/pruh&#10;&#10;Popis byl vytvořen automaticky">
            <a:extLst>
              <a:ext uri="{FF2B5EF4-FFF2-40B4-BE49-F238E27FC236}">
                <a16:creationId xmlns:a16="http://schemas.microsoft.com/office/drawing/2014/main" id="{27774235-DE98-5F4B-1B4E-2D8EB049C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311" y="2124074"/>
            <a:ext cx="5943656" cy="44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03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číslo, Písmo&#10;&#10;Popis byl vytvořen automaticky">
            <a:extLst>
              <a:ext uri="{FF2B5EF4-FFF2-40B4-BE49-F238E27FC236}">
                <a16:creationId xmlns:a16="http://schemas.microsoft.com/office/drawing/2014/main" id="{22FA0B1A-C984-0298-4CB0-3A8435B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521" y="1133154"/>
            <a:ext cx="7220958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92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1EF80-F9E9-14FD-4067-7153F183B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71" y="2939882"/>
            <a:ext cx="10357666" cy="1438450"/>
          </a:xfrm>
        </p:spPr>
        <p:txBody>
          <a:bodyPr>
            <a:normAutofit fontScale="90000"/>
          </a:bodyPr>
          <a:lstStyle/>
          <a:p>
            <a:pPr algn="ctr"/>
            <a:r>
              <a:rPr lang="cs-CZ" sz="4000" b="1" dirty="0"/>
              <a:t>vždy</a:t>
            </a:r>
            <a:r>
              <a:rPr lang="cs-CZ" dirty="0"/>
              <a:t> uchovat </a:t>
            </a:r>
            <a:r>
              <a:rPr lang="cs-CZ" dirty="0" err="1"/>
              <a:t>raw</a:t>
            </a:r>
            <a:r>
              <a:rPr lang="cs-CZ" dirty="0"/>
              <a:t> data!!!</a:t>
            </a:r>
            <a:br>
              <a:rPr lang="cs-CZ" dirty="0"/>
            </a:br>
            <a:br>
              <a:rPr lang="cs-CZ" dirty="0"/>
            </a:br>
            <a:r>
              <a:rPr lang="cs-CZ" dirty="0"/>
              <a:t>Mít u respondentů unikátní identifikátor (id)</a:t>
            </a:r>
          </a:p>
        </p:txBody>
      </p:sp>
    </p:spTree>
    <p:extLst>
      <p:ext uri="{BB962C8B-B14F-4D97-AF65-F5344CB8AC3E}">
        <p14:creationId xmlns:p14="http://schemas.microsoft.com/office/powerpoint/2010/main" val="2785158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1EF80-F9E9-14FD-4067-7153F183B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482" y="2137777"/>
            <a:ext cx="10357666" cy="1438450"/>
          </a:xfrm>
        </p:spPr>
        <p:txBody>
          <a:bodyPr/>
          <a:lstStyle/>
          <a:p>
            <a:pPr algn="ctr"/>
            <a:r>
              <a:rPr lang="cs-CZ" sz="4000" b="1" dirty="0"/>
              <a:t>trocha teorie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47246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1EF80-F9E9-14FD-4067-7153F183B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sz="4000" b="1" dirty="0"/>
              <a:t>Základní datové typy</a:t>
            </a:r>
            <a:endParaRPr lang="cs-C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A167BE-4954-E994-8B22-A7D1263264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8661" y="2752277"/>
            <a:ext cx="10083927" cy="2831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cs-CZ" altLang="cs-CZ" b="1" dirty="0" err="1"/>
              <a:t>Numeric</a:t>
            </a:r>
            <a:r>
              <a:rPr lang="cs-CZ" altLang="cs-CZ" dirty="0"/>
              <a:t> (8.5, 15, desetinná místa se oddělují tečkou)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cs-CZ" altLang="cs-CZ" b="1" dirty="0" err="1"/>
              <a:t>Character</a:t>
            </a:r>
            <a:r>
              <a:rPr lang="cs-CZ" altLang="cs-CZ" dirty="0"/>
              <a:t> (textový) – ("k", "R existuje", "11.5")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>
                <a:tab pos="176213" algn="l"/>
              </a:tabLst>
            </a:pPr>
            <a:r>
              <a:rPr lang="cs-CZ" altLang="cs-CZ" b="1" dirty="0" err="1"/>
              <a:t>Factor</a:t>
            </a:r>
            <a:r>
              <a:rPr lang="cs-CZ" altLang="cs-CZ" dirty="0"/>
              <a:t> – typicky několik textových hodnot, může nabývat jen vybraných hodnot, časté pro kategorické proměnné, pořadí hodnot je definováno v takzvaných „</a:t>
            </a:r>
            <a:r>
              <a:rPr lang="cs-CZ" altLang="cs-CZ" dirty="0" err="1"/>
              <a:t>levels</a:t>
            </a:r>
            <a:r>
              <a:rPr lang="cs-CZ" altLang="cs-CZ" dirty="0"/>
              <a:t>“ – př. </a:t>
            </a:r>
            <a:r>
              <a:rPr lang="cs-CZ" altLang="cs-CZ" dirty="0" err="1"/>
              <a:t>Likertovské</a:t>
            </a:r>
            <a:r>
              <a:rPr lang="cs-CZ" altLang="cs-CZ" dirty="0"/>
              <a:t> škály, Ano, Ne, Nevím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>
                <a:tab pos="176213" algn="l"/>
              </a:tabLst>
            </a:pPr>
            <a:r>
              <a:rPr lang="cs-CZ" altLang="cs-CZ" dirty="0"/>
              <a:t> </a:t>
            </a:r>
            <a:r>
              <a:rPr lang="cs-CZ" altLang="cs-CZ" b="1" dirty="0" err="1"/>
              <a:t>Logical</a:t>
            </a:r>
            <a:r>
              <a:rPr lang="cs-CZ" altLang="cs-CZ" dirty="0"/>
              <a:t> (TRUE nebo FALSE)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>
                <a:tab pos="176213" algn="l"/>
              </a:tabLst>
            </a:pPr>
            <a:endParaRPr lang="cs-CZ" altLang="cs-CZ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176213" algn="l"/>
              </a:tabLst>
            </a:pPr>
            <a:r>
              <a:rPr lang="cs-CZ" altLang="cs-CZ" dirty="0"/>
              <a:t>Zjistíme funkcí </a:t>
            </a:r>
            <a:r>
              <a:rPr lang="cs-CZ" altLang="cs-CZ" dirty="0" err="1"/>
              <a:t>class</a:t>
            </a:r>
            <a:r>
              <a:rPr lang="cs-CZ" altLang="cs-CZ" dirty="0"/>
              <a:t>() – např </a:t>
            </a:r>
            <a:r>
              <a:rPr lang="cs-CZ" altLang="cs-CZ" dirty="0" err="1"/>
              <a:t>class</a:t>
            </a:r>
            <a:r>
              <a:rPr lang="cs-CZ" altLang="cs-CZ" dirty="0"/>
              <a:t>(</a:t>
            </a:r>
            <a:r>
              <a:rPr lang="cs-CZ" altLang="cs-CZ" dirty="0" err="1"/>
              <a:t>df$pohlavi</a:t>
            </a:r>
            <a:r>
              <a:rPr lang="cs-CZ" altLang="cs-CZ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90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C05D1F-ED74-31BE-7EA4-B332D87D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err="1"/>
              <a:t>Grammars</a:t>
            </a:r>
            <a:r>
              <a:rPr lang="cs-CZ" b="1" dirty="0"/>
              <a:t> </a:t>
            </a:r>
            <a:r>
              <a:rPr lang="cs-CZ" b="1" dirty="0" err="1"/>
              <a:t>of</a:t>
            </a:r>
            <a:r>
              <a:rPr lang="cs-CZ" b="1" dirty="0"/>
              <a:t> </a:t>
            </a:r>
            <a:r>
              <a:rPr lang="cs-CZ" b="1" dirty="0" err="1"/>
              <a:t>Grapchics</a:t>
            </a:r>
            <a:r>
              <a:rPr lang="cs-CZ" b="1" dirty="0"/>
              <a:t>: </a:t>
            </a:r>
            <a:r>
              <a:rPr lang="cs-CZ" b="1" dirty="0" err="1"/>
              <a:t>GGplot</a:t>
            </a:r>
            <a:endParaRPr lang="cs-CZ" b="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BC6699-1D8B-3EE4-D8E3-376831589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473576"/>
          </a:xfrm>
        </p:spPr>
        <p:txBody>
          <a:bodyPr>
            <a:normAutofit lnSpcReduction="10000"/>
          </a:bodyPr>
          <a:lstStyle/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sz="1400" dirty="0">
              <a:hlinkClick r:id="rId2"/>
            </a:endParaRPr>
          </a:p>
          <a:p>
            <a:endParaRPr lang="cs-CZ" sz="1400" dirty="0">
              <a:hlinkClick r:id="rId3"/>
            </a:endParaRPr>
          </a:p>
          <a:p>
            <a:r>
              <a:rPr lang="en-US" sz="1400" dirty="0">
                <a:hlinkClick r:id="rId3"/>
              </a:rPr>
              <a:t>Beautiful Charts with R &amp; ggplot2 (Step-By-Step Tutorial for Beginners)</a:t>
            </a:r>
            <a:r>
              <a:rPr lang="cs-CZ" sz="1400" dirty="0"/>
              <a:t> – autor Albert </a:t>
            </a:r>
            <a:r>
              <a:rPr lang="cs-CZ" sz="1400" dirty="0" err="1"/>
              <a:t>Rapp</a:t>
            </a:r>
            <a:r>
              <a:rPr lang="cs-CZ" sz="1400" dirty="0"/>
              <a:t> má obecně hodně hezkých videí k </a:t>
            </a:r>
            <a:r>
              <a:rPr lang="cs-CZ" sz="1400" dirty="0" err="1"/>
              <a:t>ggplotu</a:t>
            </a:r>
            <a:r>
              <a:rPr lang="cs-CZ" sz="1400" dirty="0"/>
              <a:t> viz </a:t>
            </a:r>
            <a:r>
              <a:rPr lang="cs-CZ" sz="1400" dirty="0" err="1">
                <a:hlinkClick r:id="rId4"/>
              </a:rPr>
              <a:t>ggplot</a:t>
            </a:r>
            <a:r>
              <a:rPr lang="cs-CZ" sz="1400" dirty="0">
                <a:hlinkClick r:id="rId4"/>
              </a:rPr>
              <a:t> </a:t>
            </a:r>
            <a:r>
              <a:rPr lang="cs-CZ" sz="1400" dirty="0" err="1">
                <a:hlinkClick r:id="rId4"/>
              </a:rPr>
              <a:t>Tutorials</a:t>
            </a:r>
            <a:r>
              <a:rPr lang="cs-CZ" sz="1400" dirty="0">
                <a:hlinkClick r:id="rId4"/>
              </a:rPr>
              <a:t> - YouTube</a:t>
            </a:r>
            <a:endParaRPr lang="cs-CZ" sz="1400" dirty="0"/>
          </a:p>
          <a:p>
            <a:r>
              <a:rPr lang="cs-CZ" sz="1400" dirty="0">
                <a:hlinkClick r:id="rId2"/>
              </a:rPr>
              <a:t>R: grafy (youtube.com)</a:t>
            </a:r>
            <a:r>
              <a:rPr lang="cs-CZ" sz="1400" dirty="0"/>
              <a:t> – přehledný úvod do grafů od Daniela Dostála z psychologie z  Olomouce na, pozor na to, že u případných dalších témat autor nepracuje s </a:t>
            </a:r>
            <a:r>
              <a:rPr lang="cs-CZ" sz="1400" dirty="0" err="1"/>
              <a:t>tidyverse</a:t>
            </a:r>
            <a:r>
              <a:rPr lang="cs-CZ" sz="1400" dirty="0"/>
              <a:t> </a:t>
            </a:r>
            <a:r>
              <a:rPr lang="cs-CZ" sz="1400" dirty="0" err="1"/>
              <a:t>dplyrem</a:t>
            </a:r>
            <a:r>
              <a:rPr lang="cs-CZ" sz="1400" dirty="0"/>
              <a:t>, připadá mu dle svých slov málo programátorské </a:t>
            </a:r>
          </a:p>
        </p:txBody>
      </p:sp>
      <p:pic>
        <p:nvPicPr>
          <p:cNvPr id="5" name="Obrázek 4" descr="Obsah obrázku text, snímek obrazovky, diagram, řada/pruh&#10;&#10;Popis byl vytvořen automaticky">
            <a:extLst>
              <a:ext uri="{FF2B5EF4-FFF2-40B4-BE49-F238E27FC236}">
                <a16:creationId xmlns:a16="http://schemas.microsoft.com/office/drawing/2014/main" id="{9A1E9BD9-E51C-F429-190E-B1D2C276FC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52" y="1938111"/>
            <a:ext cx="8573696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439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BC6699-1D8B-3EE4-D8E3-376831589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473576"/>
          </a:xfrm>
        </p:spPr>
        <p:txBody>
          <a:bodyPr>
            <a:normAutofit/>
          </a:bodyPr>
          <a:lstStyle/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1E1A89B2-522D-34C2-61D9-B9707498B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718" y="0"/>
            <a:ext cx="6224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11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BC6699-1D8B-3EE4-D8E3-376831589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473576"/>
          </a:xfrm>
        </p:spPr>
        <p:txBody>
          <a:bodyPr>
            <a:normAutofit/>
          </a:bodyPr>
          <a:lstStyle/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</p:txBody>
      </p:sp>
      <p:pic>
        <p:nvPicPr>
          <p:cNvPr id="8" name="Obrázek 7" descr="Obsah obrázku text, snímek obrazovky, řada/pruh, Obdélník&#10;&#10;Popis byl vytvořen automaticky">
            <a:extLst>
              <a:ext uri="{FF2B5EF4-FFF2-40B4-BE49-F238E27FC236}">
                <a16:creationId xmlns:a16="http://schemas.microsoft.com/office/drawing/2014/main" id="{D5BF8ABD-836F-E55E-58DD-935306ED2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638" y="3703200"/>
            <a:ext cx="7077094" cy="2538522"/>
          </a:xfrm>
          <a:prstGeom prst="rect">
            <a:avLst/>
          </a:prstGeom>
        </p:spPr>
      </p:pic>
      <p:pic>
        <p:nvPicPr>
          <p:cNvPr id="10" name="Obrázek 9" descr="Obsah obrázku text, snímek obrazovky, Písmo, číslo&#10;&#10;Popis byl vytvořen automaticky">
            <a:extLst>
              <a:ext uri="{FF2B5EF4-FFF2-40B4-BE49-F238E27FC236}">
                <a16:creationId xmlns:a16="http://schemas.microsoft.com/office/drawing/2014/main" id="{64E5DED4-97E6-413E-17F5-1D9B100E8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58" y="365125"/>
            <a:ext cx="4315427" cy="2953162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D60B7947-7358-618A-CB1F-95EA2713B69D}"/>
              </a:ext>
            </a:extLst>
          </p:cNvPr>
          <p:cNvSpPr txBox="1"/>
          <p:nvPr/>
        </p:nvSpPr>
        <p:spPr>
          <a:xfrm>
            <a:off x="5149516" y="664143"/>
            <a:ext cx="653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Seskupování dat a rozdíl mezi </a:t>
            </a:r>
            <a:r>
              <a:rPr lang="cs-CZ" dirty="0" err="1"/>
              <a:t>summarise</a:t>
            </a:r>
            <a:r>
              <a:rPr lang="cs-CZ" dirty="0"/>
              <a:t> a </a:t>
            </a:r>
            <a:r>
              <a:rPr lang="cs-CZ" dirty="0" err="1"/>
              <a:t>mutate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28005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DAB7FC-EA0A-325F-3379-ADED0EE3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Tipy v 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0D5808-1AB8-47CE-551A-837699920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Využívat komentáře # popisující k čemu se následující kód vztahuje nebo co je cílem</a:t>
            </a:r>
          </a:p>
          <a:p>
            <a:r>
              <a:rPr lang="cs-CZ" dirty="0"/>
              <a:t>Pro začátek pracovat s kratšími úseky kódu </a:t>
            </a:r>
          </a:p>
          <a:p>
            <a:r>
              <a:rPr lang="cs-CZ" dirty="0"/>
              <a:t>Pro větší kontrolu při transformaci dat ukládat nově vytvořené proměnné do nových proměnných a ukládat nové objekty (</a:t>
            </a:r>
            <a:r>
              <a:rPr lang="cs-CZ" dirty="0" err="1"/>
              <a:t>dataframy</a:t>
            </a:r>
            <a:r>
              <a:rPr lang="cs-CZ" dirty="0"/>
              <a:t>) do objektů s různými jmény – na závěr lze snadno sjednotit</a:t>
            </a:r>
          </a:p>
          <a:p>
            <a:r>
              <a:rPr lang="cs-CZ" dirty="0"/>
              <a:t>Při konkrétních problémech </a:t>
            </a:r>
          </a:p>
          <a:p>
            <a:pPr lvl="1"/>
            <a:r>
              <a:rPr lang="cs-CZ" dirty="0"/>
              <a:t>přečíst si, co píše </a:t>
            </a:r>
            <a:r>
              <a:rPr lang="cs-CZ" dirty="0" err="1"/>
              <a:t>error</a:t>
            </a:r>
            <a:endParaRPr lang="cs-CZ" dirty="0"/>
          </a:p>
          <a:p>
            <a:pPr lvl="1"/>
            <a:r>
              <a:rPr lang="cs-CZ" dirty="0"/>
              <a:t>podívat se do dokumentace požívané funkce</a:t>
            </a:r>
          </a:p>
          <a:p>
            <a:pPr lvl="1"/>
            <a:r>
              <a:rPr lang="cs-CZ" dirty="0"/>
              <a:t>Konzultovat problém s </a:t>
            </a:r>
          </a:p>
          <a:p>
            <a:pPr lvl="2"/>
            <a:r>
              <a:rPr lang="cs-CZ" dirty="0"/>
              <a:t>s </a:t>
            </a:r>
            <a:r>
              <a:rPr lang="cs-CZ" b="1" dirty="0" err="1"/>
              <a:t>chatGPT</a:t>
            </a:r>
            <a:r>
              <a:rPr lang="cs-CZ" dirty="0"/>
              <a:t> – může “vymyslet“, jak něco udělat; opravit kód, navrhnout zjednodušení kódu, vysvětlit jak funkce fungují, často píše výsledky v base, často specifikuju, že chci používat </a:t>
            </a:r>
            <a:r>
              <a:rPr lang="cs-CZ" dirty="0" err="1"/>
              <a:t>tidyverse</a:t>
            </a:r>
            <a:endParaRPr lang="cs-CZ" dirty="0"/>
          </a:p>
          <a:p>
            <a:pPr lvl="2"/>
            <a:r>
              <a:rPr lang="cs-CZ" dirty="0"/>
              <a:t>s dalšími </a:t>
            </a:r>
            <a:r>
              <a:rPr lang="cs-CZ" b="1" dirty="0"/>
              <a:t>kolegy</a:t>
            </a:r>
          </a:p>
          <a:p>
            <a:pPr lvl="2"/>
            <a:r>
              <a:rPr lang="cs-CZ" dirty="0"/>
              <a:t>Zadat do </a:t>
            </a:r>
            <a:r>
              <a:rPr lang="cs-CZ" b="1" dirty="0"/>
              <a:t>vyhledávače</a:t>
            </a:r>
            <a:r>
              <a:rPr lang="cs-CZ" dirty="0"/>
              <a:t> – podobný dotaz bude pravděpodobně na </a:t>
            </a:r>
            <a:r>
              <a:rPr lang="cs-CZ" dirty="0" err="1"/>
              <a:t>StackOverflow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72821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DAB7FC-EA0A-325F-3379-ADED0EE3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Tipy v 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0D5808-1AB8-47CE-551A-837699920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Při problému, u </a:t>
            </a:r>
            <a:r>
              <a:rPr lang="cs-CZ" dirty="0" err="1"/>
              <a:t>kterýho</a:t>
            </a:r>
            <a:r>
              <a:rPr lang="cs-CZ" dirty="0"/>
              <a:t> nevíme, kdy vzniká </a:t>
            </a:r>
            <a:r>
              <a:rPr lang="cs-CZ" b="1" dirty="0"/>
              <a:t>spouštět kód postupně a kontrolovat, kde je vše v pořádku a kde se to pokazilo</a:t>
            </a:r>
            <a:br>
              <a:rPr lang="cs-CZ" dirty="0"/>
            </a:br>
            <a:r>
              <a:rPr lang="cs-CZ" dirty="0"/>
              <a:t>	např. všimnu si, že proměnná, se kterou jsem dělala různé operace, nemá některých respondentů hodnoty, tak jak je chci mít, je to vidět např. u respondenta s id 15</a:t>
            </a:r>
            <a:br>
              <a:rPr lang="cs-CZ" dirty="0"/>
            </a:br>
            <a:r>
              <a:rPr lang="cs-CZ" dirty="0"/>
              <a:t>	tak můžu napříč skriptem udělat několik kontrol specificky pro tohoto respondenta a hodnoty proměnné, kde to nesedí (stačí vybrat tyto 2 proměnné přes </a:t>
            </a:r>
            <a:r>
              <a:rPr lang="cs-CZ" dirty="0" err="1"/>
              <a:t>filter</a:t>
            </a:r>
            <a:r>
              <a:rPr lang="cs-CZ" dirty="0"/>
              <a:t>(id == 15) %&gt;%  </a:t>
            </a:r>
            <a:r>
              <a:rPr lang="cs-CZ" dirty="0" err="1"/>
              <a:t>select</a:t>
            </a:r>
            <a:r>
              <a:rPr lang="cs-CZ" dirty="0"/>
              <a:t>(id, var), až najdu místo, kde je chyba </a:t>
            </a: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04371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B1E622-9E98-E242-6B7B-3E387DBE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Další Materiály k tématu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0E1531-A1BA-1794-2F93-F294A2A2A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cs-CZ" dirty="0">
                <a:hlinkClick r:id="rId2"/>
              </a:rPr>
              <a:t>https://r4ds.had.co.nz/tidy-data.html</a:t>
            </a:r>
            <a:r>
              <a:rPr lang="cs-CZ" dirty="0"/>
              <a:t> – čistá data, transformace, cvičení</a:t>
            </a:r>
          </a:p>
          <a:p>
            <a:r>
              <a:rPr lang="cs-CZ" dirty="0">
                <a:hlinkClick r:id="rId3"/>
              </a:rPr>
              <a:t>https://garrettgman.github.io/tidying/</a:t>
            </a:r>
            <a:endParaRPr lang="cs-CZ" dirty="0"/>
          </a:p>
          <a:p>
            <a:r>
              <a:rPr lang="en-US" dirty="0">
                <a:hlinkClick r:id="rId4"/>
              </a:rPr>
              <a:t>The R Graph Gallery – Help and inspiration for R charts (r-graph-gallery.com)</a:t>
            </a:r>
            <a:endParaRPr lang="cs-CZ" dirty="0"/>
          </a:p>
          <a:p>
            <a:r>
              <a:rPr lang="cs-CZ" dirty="0">
                <a:hlinkClick r:id="rId5"/>
              </a:rPr>
              <a:t>https://dreamrs.shinyapps.io/esquisse/</a:t>
            </a:r>
            <a:r>
              <a:rPr lang="cs-CZ" dirty="0"/>
              <a:t> - průzkum možností </a:t>
            </a:r>
            <a:r>
              <a:rPr lang="cs-CZ" dirty="0" err="1"/>
              <a:t>ggplotu</a:t>
            </a:r>
            <a:r>
              <a:rPr lang="cs-CZ" dirty="0"/>
              <a:t> v </a:t>
            </a:r>
            <a:r>
              <a:rPr lang="cs-CZ" dirty="0" err="1"/>
              <a:t>shiny</a:t>
            </a:r>
            <a:r>
              <a:rPr lang="cs-CZ" dirty="0"/>
              <a:t> aplikaci </a:t>
            </a:r>
          </a:p>
          <a:p>
            <a:r>
              <a:rPr lang="en-US" dirty="0">
                <a:hlinkClick r:id="rId6"/>
              </a:rPr>
              <a:t>Top R Color Palettes to Know for Great Data Visualization – </a:t>
            </a:r>
            <a:r>
              <a:rPr lang="en-US" dirty="0" err="1">
                <a:hlinkClick r:id="rId6"/>
              </a:rPr>
              <a:t>Datanovia</a:t>
            </a:r>
            <a:r>
              <a:rPr lang="cs-CZ" dirty="0"/>
              <a:t> </a:t>
            </a:r>
          </a:p>
          <a:p>
            <a:r>
              <a:rPr lang="en-US" dirty="0">
                <a:hlinkClick r:id="rId7"/>
              </a:rPr>
              <a:t>Tips and Tricks for R and </a:t>
            </a:r>
            <a:r>
              <a:rPr lang="en-US" dirty="0" err="1">
                <a:hlinkClick r:id="rId7"/>
              </a:rPr>
              <a:t>Rstudio</a:t>
            </a:r>
            <a:r>
              <a:rPr lang="en-US" dirty="0">
                <a:hlinkClick r:id="rId7"/>
              </a:rPr>
              <a:t> • </a:t>
            </a:r>
            <a:r>
              <a:rPr lang="en-US" dirty="0" err="1">
                <a:hlinkClick r:id="rId7"/>
              </a:rPr>
              <a:t>reschola</a:t>
            </a:r>
            <a:r>
              <a:rPr lang="en-US" dirty="0">
                <a:hlinkClick r:id="rId7"/>
              </a:rPr>
              <a:t> (scholaempirica.github.io)</a:t>
            </a:r>
            <a:endParaRPr lang="cs-CZ" dirty="0"/>
          </a:p>
          <a:p>
            <a:r>
              <a:rPr lang="en-US" dirty="0">
                <a:hlinkClick r:id="rId8"/>
              </a:rPr>
              <a:t>R Programming Courses | Online Courses for All Levels (datacamp.com)</a:t>
            </a:r>
            <a:r>
              <a:rPr lang="cs-CZ" dirty="0"/>
              <a:t> – online kurzy na </a:t>
            </a:r>
            <a:r>
              <a:rPr lang="cs-CZ" dirty="0" err="1"/>
              <a:t>DataCamp</a:t>
            </a:r>
            <a:r>
              <a:rPr lang="cs-CZ" dirty="0"/>
              <a:t> – zdarma jen omezeně</a:t>
            </a:r>
          </a:p>
          <a:p>
            <a:r>
              <a:rPr lang="cs-CZ" dirty="0">
                <a:hlinkClick r:id="rId9"/>
              </a:rPr>
              <a:t>Efektivní a přehledná práce s daty v prostředí jazyka R (</a:t>
            </a:r>
            <a:r>
              <a:rPr lang="cs-CZ" dirty="0" err="1">
                <a:hlinkClick r:id="rId9"/>
              </a:rPr>
              <a:t>petrbouchal.xyz</a:t>
            </a:r>
            <a:r>
              <a:rPr lang="cs-CZ" dirty="0">
                <a:hlinkClick r:id="rId9"/>
              </a:rPr>
              <a:t>)</a:t>
            </a:r>
            <a:endParaRPr lang="cs-CZ" dirty="0"/>
          </a:p>
          <a:p>
            <a:r>
              <a:rPr lang="cs-CZ" dirty="0">
                <a:hlinkClick r:id="rId10"/>
              </a:rPr>
              <a:t>Úvod do analýzy dat v R (sociology-fa-cu.github.io)</a:t>
            </a:r>
            <a:endParaRPr lang="cs-CZ" dirty="0"/>
          </a:p>
          <a:p>
            <a:r>
              <a:rPr lang="en-US" dirty="0">
                <a:hlinkClick r:id="rId11"/>
              </a:rPr>
              <a:t>Beautiful Charts with R &amp; ggplot2 (Step-By-Step Tutorial for Beginners)</a:t>
            </a:r>
            <a:r>
              <a:rPr lang="cs-CZ" dirty="0"/>
              <a:t> – autor Albert </a:t>
            </a:r>
            <a:r>
              <a:rPr lang="cs-CZ" dirty="0" err="1"/>
              <a:t>Rapp</a:t>
            </a:r>
            <a:r>
              <a:rPr lang="cs-CZ" dirty="0"/>
              <a:t> má obecně hodně hezkých videí k </a:t>
            </a:r>
            <a:r>
              <a:rPr lang="cs-CZ" dirty="0" err="1"/>
              <a:t>ggplotu</a:t>
            </a:r>
            <a:r>
              <a:rPr lang="cs-CZ" dirty="0"/>
              <a:t> viz </a:t>
            </a:r>
            <a:r>
              <a:rPr lang="cs-CZ" dirty="0" err="1">
                <a:hlinkClick r:id="rId12"/>
              </a:rPr>
              <a:t>ggplot</a:t>
            </a:r>
            <a:r>
              <a:rPr lang="cs-CZ" dirty="0">
                <a:hlinkClick r:id="rId12"/>
              </a:rPr>
              <a:t> </a:t>
            </a:r>
            <a:r>
              <a:rPr lang="cs-CZ" dirty="0" err="1">
                <a:hlinkClick r:id="rId12"/>
              </a:rPr>
              <a:t>Tutorials</a:t>
            </a:r>
            <a:r>
              <a:rPr lang="cs-CZ" dirty="0">
                <a:hlinkClick r:id="rId12"/>
              </a:rPr>
              <a:t> - YouTube</a:t>
            </a:r>
            <a:endParaRPr lang="cs-CZ" dirty="0"/>
          </a:p>
          <a:p>
            <a:r>
              <a:rPr lang="cs-CZ" dirty="0">
                <a:hlinkClick r:id="rId13"/>
              </a:rPr>
              <a:t>R: grafy (youtube.com)</a:t>
            </a:r>
            <a:r>
              <a:rPr lang="cs-CZ" dirty="0"/>
              <a:t> – přehledný úvod do grafů od Daniela Dostála z psychologie z  Olomouce na, pozor na to, že u případných dalších témat autor nepracuje s </a:t>
            </a:r>
            <a:r>
              <a:rPr lang="cs-CZ" dirty="0" err="1"/>
              <a:t>tidyverse</a:t>
            </a:r>
            <a:r>
              <a:rPr lang="cs-CZ" dirty="0"/>
              <a:t> </a:t>
            </a:r>
            <a:r>
              <a:rPr lang="cs-CZ" dirty="0" err="1"/>
              <a:t>dplyrem</a:t>
            </a:r>
            <a:r>
              <a:rPr lang="cs-CZ" dirty="0"/>
              <a:t>, připadá mu dle svých slov málo programátorské </a:t>
            </a:r>
            <a:br>
              <a:rPr lang="cs-CZ" dirty="0"/>
            </a:b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01478942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Avenir 1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69839BBA-F383-4FFD-B56A-E36ACE43E09D}" vid="{060D2740-A69C-444A-B833-E03D333ADD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1000</Words>
  <Application>Microsoft Office PowerPoint</Application>
  <PresentationFormat>Širokoúhlá obrazovka</PresentationFormat>
  <Paragraphs>83</Paragraphs>
  <Slides>22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8" baseType="lpstr">
      <vt:lpstr>Arial</vt:lpstr>
      <vt:lpstr>Avenir Next LT Pro</vt:lpstr>
      <vt:lpstr>Avenir Next LT Pro Light</vt:lpstr>
      <vt:lpstr>Calibri</vt:lpstr>
      <vt:lpstr>Wingdings</vt:lpstr>
      <vt:lpstr>VeniceBeachVTI</vt:lpstr>
      <vt:lpstr>Úvod do R a grafů s ggplotem</vt:lpstr>
      <vt:lpstr>Proč R</vt:lpstr>
      <vt:lpstr>Ukázky grafů v Rku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Minimální standard pro práci s daty</vt:lpstr>
      <vt:lpstr>Výstižně a chytře pojmenovávat soubory i proměnné</vt:lpstr>
      <vt:lpstr>Hlavní kódovací styly</vt:lpstr>
      <vt:lpstr>V jakém formátu chceme data</vt:lpstr>
      <vt:lpstr>Prezentace aplikace PowerPoint</vt:lpstr>
      <vt:lpstr>vždy uchovat raw data!!!  Mít u respondentů unikátní identifikátor (id)</vt:lpstr>
      <vt:lpstr>trocha teorie</vt:lpstr>
      <vt:lpstr>Základní datové typy</vt:lpstr>
      <vt:lpstr>Grammars of Grapchics: GGplot</vt:lpstr>
      <vt:lpstr>Prezentace aplikace PowerPoint</vt:lpstr>
      <vt:lpstr>Prezentace aplikace PowerPoint</vt:lpstr>
      <vt:lpstr>Tipy v R</vt:lpstr>
      <vt:lpstr>Tipy v R</vt:lpstr>
      <vt:lpstr>Další Materiály k tématu</vt:lpstr>
    </vt:vector>
  </TitlesOfParts>
  <Company>MPSV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Setkání workshopy v r</dc:title>
  <dc:creator>Šafářová Kateřina Mgr. (MPSV)</dc:creator>
  <cp:lastModifiedBy>Šafářová Kateřina Mgr. (MPSV)</cp:lastModifiedBy>
  <cp:revision>18</cp:revision>
  <dcterms:created xsi:type="dcterms:W3CDTF">2024-05-22T20:48:37Z</dcterms:created>
  <dcterms:modified xsi:type="dcterms:W3CDTF">2026-01-15T20:20:38Z</dcterms:modified>
</cp:coreProperties>
</file>